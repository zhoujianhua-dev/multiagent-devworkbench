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多智能体协同软件开发工作台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FD7EE"/>
                </a:solidFill>
                <a:latin typeface="Microsoft YaHei"/>
              </a:defRPr>
            </a:pPr>
            <a:r>
              <a:t>—— 基于 AIP 国家标准的智能体互联系统设计与实现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FC3DE"/>
                </a:solidFill>
                <a:latin typeface="Microsoft YaHei"/>
              </a:defRPr>
            </a:pPr>
            <a:r>
              <a:t>第八届 AIC 算法大赛 · 算法主题赛（智能体互联）</a:t>
            </a:r>
          </a:p>
          <a:p>
            <a:pPr algn="ctr">
              <a:defRPr sz="1400">
                <a:solidFill>
                  <a:srgbClr val="9FC3DE"/>
                </a:solidFill>
                <a:latin typeface="Microsoft YaHei"/>
              </a:defRPr>
            </a:pPr>
            <a:r>
              <a:t>1 个 Leader + 5 个专职 Partner · 基于 ACPs 开源参考实现二次开发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背景与行业痛点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AI 规模化落地 → 异构智能体互联是核心底座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AIP 国家标准（GB/Z 185《人工智能 智能体互联》）2026-05-22 正式发布，覆盖总体架构 / 身份码 / 身份管理 / 智能体描述 / 发现 / 交互 / 工具调用</a:t>
            </a:r>
          </a:p>
          <a:p>
            <a:pPr>
              <a:spcAft>
                <a:spcPts val="800"/>
              </a:spcAft>
              <a:defRPr sz="1500" b="1">
                <a:solidFill>
                  <a:srgbClr val="D65A2C"/>
                </a:solidFill>
                <a:latin typeface="Microsoft YaHei"/>
              </a:defRPr>
            </a:pPr>
            <a:r>
              <a:t>产业落地四大痛点：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协议割裂：智能体私有协议互调成本高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身份与信任缺失：无统一 AIC 与双向认证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发现机制薄弱：能力描述与检索无标准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标准落地实践人才紧缺：缺少可运行工程参考</a:t>
            </a:r>
          </a:p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本作品：基于 AIP 国标 + ACPs 开源实现，二次开发一套可运行、可验证、可推广的多智能体协同系统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作品目标定位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硬性目标：梧桐平台注册 → 自动发现 → 跨端互联访问 全流程验证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1051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软件开发任务全流程拆解（需求→架构→审查/测试→文档），5 个专职 Partner 协同完成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技术目标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ACS/ATR 可信注册取得 AIC+CAI；ADP 自动发现；Direct RPC + Group AMQP 双通道；mTLS 双向认证；AMP 心跳留存访问数据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验证目标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梧桐智能体互联平台（wt.ioa.pub）完成注册、发现、互联、访问全流程并留存后台访问数据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1280160"/>
            <a:ext cx="11247119" cy="3291840"/>
          </a:xfrm>
          <a:prstGeom prst="rect">
            <a:avLst/>
          </a:prstGeom>
          <a:solidFill>
            <a:srgbClr val="F2F6FA"/>
          </a:solidFill>
          <a:ln>
            <a:solidFill>
              <a:srgbClr val="CC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三层分层互联：用户层 → 编排层（Leader） → 能力层（Partner×5） → 平台层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B3D2E"/>
                </a:solidFill>
                <a:latin typeface="Consolas"/>
              </a:defRPr>
            </a:pPr>
            <a:r>
              <a:t>用户 ── HTTP/Web UI ──▶ Leader 软件开发任务主控 (API:9031 / Web UI:9030)</a:t>
            </a:r>
            <a:br/>
            <a:r>
              <a:t>        │  意图识别 → 规划 → 【存活感知路由·创新1】 → 【双通道执行·创新2】 → 完成闸门 → 聚合</a:t>
            </a:r>
            <a:br/>
            <a:r>
              <a:t>        ▼</a:t>
            </a:r>
            <a:br/>
            <a:r>
              <a:t>需求分析师(9021)  架构设计师(9022)  代码审查师(9023)  测试设计师(9024)  文档工程师(9025)</a:t>
            </a:r>
            <a:br/>
            <a:r>
              <a:t>        │ 每个 Partner 双端点：JSON-RPC(mTLS) + AMQP(RabbitMQ:5671)</a:t>
            </a:r>
            <a:br/>
            <a:r>
              <a:t>        ▼</a:t>
            </a:r>
            <a:br/>
            <a:r>
              <a:t>梧桐平台：Registry(注册/审核) · CA(证书) · Discovery(发现) · MQ(群组) · Monitor + Kafka(心跳/访问审计)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4E79"/>
                </a:solidFill>
                <a:latin typeface="Microsoft YaHei"/>
              </a:defRPr>
            </a:pPr>
            <a:r>
              <a:t>架构特点：场景（domain/prompts）与通信（SDK）与编排（core）三层解耦，场景替换不动核心代码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AIP 国标遵循与协议实现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七大部分逐项落地，国标原生而非私有协议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国标部分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本作品落地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关键实现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总体架构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Leader/Partner 角色分层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编排层与能力层解耦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身份码 AIC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 智能体全部取得 AIC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ATR 注册审批分配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身份管理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mTLS 双向认证 + 身份绑定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CAI 证书 + peer cert 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智能体描述 ACS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ACS 规范编写并注册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skills/capabilities/endPoints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发现 ADP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Leader 动态检索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DiscoveryClient /discover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交互 AIP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任务状态机全生命周期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TaskCommand/TaskResult/Product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工具调用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技能（skills）声明与匹配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能力边界 + 拒绝策略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1280160"/>
            <a:ext cx="11247119" cy="3840480"/>
          </a:xfrm>
          <a:prstGeom prst="rect">
            <a:avLst/>
          </a:prstGeom>
          <a:solidFill>
            <a:srgbClr val="F2F6FA"/>
          </a:solidFill>
          <a:ln>
            <a:solidFill>
              <a:srgbClr val="CC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核心编排流程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LLM 分层流水线：意图 → 规划 → 路由 → 执行 → 闸门 → 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B3D2E"/>
                </a:solidFill>
                <a:latin typeface="Consolas"/>
              </a:defRPr>
            </a:pPr>
            <a:r>
              <a:t>LLM-1 意图识别      TASK_INPUT / TASK_NEW / CHIT_CHAT（场景匹配：软件开发）</a:t>
            </a:r>
            <a:br/>
            <a:r>
              <a:t>LLM-2 维度规划      拆解 requirement/architecture/code_review/test/documentation</a:t>
            </a:r>
            <a:br/>
            <a:r>
              <a:t>★创新1 存活感知路由 按 aliveMap 过滤离线 Partner，全离线维度 → fallback 兜底</a:t>
            </a:r>
            <a:br/>
            <a:r>
              <a:t>★创新2 双通道执行   Direct RPC 主通道 → 失败自动降级 Group AMQP</a:t>
            </a:r>
            <a:br/>
            <a:r>
              <a:t>LLM-3/4 完成闸门     awaiting-completion → complete / continue 决策</a:t>
            </a:r>
            <a:br/>
            <a:r>
              <a:t>LLM-5 一致性校验     术语表 / 接口定义 / 验收标准 跨维度对齐</a:t>
            </a:r>
            <a:br/>
            <a:r>
              <a:t>LLM-6 结果聚合       输出工程交付物（需求规格→架构方案→质量保障→文档）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1280160"/>
            <a:ext cx="11247119" cy="2011680"/>
          </a:xfrm>
          <a:prstGeom prst="rect">
            <a:avLst/>
          </a:prstGeom>
          <a:solidFill>
            <a:srgbClr val="F2F6FA"/>
          </a:solidFill>
          <a:ln>
            <a:solidFill>
              <a:srgbClr val="CC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创新点一 · 存活感知路由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HealthAwareSelector：心跳存活状态驱动的动态路由（自主开发）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B3D2E"/>
                </a:solidFill>
                <a:latin typeface="Consolas"/>
              </a:defRPr>
            </a:pPr>
            <a:r>
              <a:t>class HealthAwareSelector:</a:t>
            </a:r>
            <a:br/>
            <a:r>
              <a:t>    def filter_dimension(self, dimension_id, partners):</a:t>
            </a:r>
            <a:br/>
            <a:r>
              <a:t>        online, offline = [], []</a:t>
            </a:r>
            <a:br/>
            <a:r>
              <a:t>        for p in partners:</a:t>
            </a:r>
            <a:br/>
            <a:r>
              <a:t>            if self.is_alive(p.get("partnerAic")):</a:t>
            </a:r>
            <a:br/>
            <a:r>
              <a:t>                online.append(p)</a:t>
            </a:r>
            <a:br/>
            <a:r>
              <a:t>            else:</a:t>
            </a:r>
            <a:br/>
            <a:r>
              <a:t>                offline.append(p)          # 心跳离线 → 跳过</a:t>
            </a:r>
            <a:br/>
            <a:r>
              <a:t>        if online: return Decision(status="active")</a:t>
            </a:r>
            <a:br/>
            <a:r>
              <a:t>        return Decision(status="fallback")  # 全离线 → Leader 兜底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65A2C"/>
                </a:solidFill>
                <a:latin typeface="Microsoft YaHei"/>
              </a:defRPr>
            </a:pPr>
            <a:r>
              <a:t>问题：官方 demo 规划器不感知 Partner 存活，下发离线 Partner → 不可控超时</a:t>
            </a:r>
          </a:p>
          <a:p>
            <a:pPr>
              <a:spcAft>
                <a:spcPts val="800"/>
              </a:spcAft>
              <a:defRPr sz="1300" b="0">
                <a:solidFill>
                  <a:srgbClr val="D65A2C"/>
                </a:solidFill>
                <a:latin typeface="Microsoft YaHei"/>
              </a:defRPr>
            </a:pPr>
            <a:r>
              <a:t>方案：编排执行前基于 aliveMap 健康过滤；维度全离线 → 标记 fallback 由 Leader 兜底提示</a:t>
            </a:r>
          </a:p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Microsoft YaHei"/>
              </a:defRPr>
            </a:pPr>
            <a:r>
              <a:t>验证：离线演示实测 5 维度中 1 维度离线时正确降级（4/5 正常派发，1/5 兜底）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1280160"/>
            <a:ext cx="11247119" cy="1920240"/>
          </a:xfrm>
          <a:prstGeom prst="rect">
            <a:avLst/>
          </a:prstGeom>
          <a:solidFill>
            <a:srgbClr val="F2F6FA"/>
          </a:solidFill>
          <a:ln>
            <a:solidFill>
              <a:srgbClr val="CC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创新点二 · 双通道容错执行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DualChannelExecutor：Direct RPC 主通道 + Group AMQP 备通道自动降级（自主开发）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B3D2E"/>
                </a:solidFill>
                <a:latin typeface="Consolas"/>
              </a:defRPr>
            </a:pPr>
            <a:r>
              <a:t>class DualChannelExecutor:</a:t>
            </a:r>
            <a:br/>
            <a:r>
              <a:t>    async def run(self, partner, instruction):</a:t>
            </a:r>
            <a:br/>
            <a:r>
              <a:t>        try:                                   # 主通道：Direct RPC</a:t>
            </a:r>
            <a:br/>
            <a:r>
              <a:t>            return await asyncio.wait_for(self._rpc_fn(partner, instruction), 30)</a:t>
            </a:r>
            <a:br/>
            <a:r>
              <a:t>        except (TimeoutError, ConnectionError):# 瞬时故障</a:t>
            </a:r>
            <a:br/>
            <a:r>
              <a:t>            return await self._group_fn(partner, instruction)  # 备通道：Group AMQP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65A2C"/>
                </a:solidFill>
                <a:latin typeface="Microsoft YaHei"/>
              </a:defRPr>
            </a:pPr>
            <a:r>
              <a:t>问题：官方按 ACS 能力位静态选择单通道，瞬时故障（TLS 握手失败/超时）无自愈能力</a:t>
            </a:r>
          </a:p>
          <a:p>
            <a:pPr>
              <a:spcAft>
                <a:spcPts val="800"/>
              </a:spcAft>
              <a:defRPr sz="1300" b="0">
                <a:solidFill>
                  <a:srgbClr val="D65A2C"/>
                </a:solidFill>
                <a:latin typeface="Microsoft YaHei"/>
              </a:defRPr>
            </a:pPr>
            <a:r>
              <a:t>方案：两种 AIP 交互模式封装为主备关系，毫秒级自动降级，双通道失败返回结构化错误供编排决策</a:t>
            </a:r>
          </a:p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Microsoft YaHei"/>
              </a:defRPr>
            </a:pPr>
            <a:r>
              <a:t>验证：离线演示实测 RPC 失败 → 自动降级 Group 成功（channel=rpc/group/none 三场景）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智能体设计（Leader + 5 Partner）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场景插件化：软件开发场景整体替换官方旅游场景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0089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智能体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能力边界（拒绝）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任务主控（Leader）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意图识别/规划/路由/执行/聚合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超范围任务明确提示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需求分析师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功能/非功能需求、用例、验收标准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架构/代码/测试类请求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架构设计师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技术选型、模块划分、接口与数据模型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需求澄清/逐行实现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代码审查师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缺陷识别、安全扫描、性能重构建议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从零写完整项目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测试设计师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单元/集成/E2E 用例、优先级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实际执行测试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文档工程师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技术方案、接口文档、部署手册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代码实现类请求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1280160"/>
            <a:ext cx="11247119" cy="2560320"/>
          </a:xfrm>
          <a:prstGeom prst="rect">
            <a:avLst/>
          </a:prstGeom>
          <a:solidFill>
            <a:srgbClr val="F2F6FA"/>
          </a:solidFill>
          <a:ln>
            <a:solidFill>
              <a:srgbClr val="CC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梧桐平台接入全流程（ATR 可信注册）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6 个智能体：1 Leader + 5 Partner，均需注册/审核/签发证书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B3D2E"/>
                </a:solidFill>
                <a:latin typeface="Consolas"/>
              </a:defRPr>
            </a:pPr>
            <a:r>
              <a:t>acps-cli auth login --username &lt;账号&gt; --password '&lt;密码&gt;'</a:t>
            </a:r>
            <a:br/>
            <a:r>
              <a:t>acps-cli agent save --acs-file &lt;agent&gt;/acs.json --json      # aic 留空 ""，审批分配</a:t>
            </a:r>
            <a:br/>
            <a:r>
              <a:t>acps-cli agent submit --agent-id &lt;UUID&gt; --json              # 提交审核</a:t>
            </a:r>
            <a:br/>
            <a:r>
              <a:t>acps-cli agent check --acs-file &lt;agent&gt;/acs.json --json     # 确认 AIC</a:t>
            </a:r>
            <a:br/>
            <a:r>
              <a:t>acps-cli cert eab fetch --aic &lt;AIC&gt; --output eab.json --json</a:t>
            </a:r>
            <a:br/>
            <a:r>
              <a:t>acps-cli cert issue --aic &lt;AIC&gt; --eab-file eab.json --usage clientAuth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4E79"/>
                </a:solidFill>
                <a:latin typeface="Microsoft YaHei"/>
              </a:defRPr>
            </a:pPr>
            <a:r>
              <a:t>要点：平台允许直接注册实体；endPoints 用公网 IP；MQ 信任 Agent CA Root 签发的 clientAuth 证书直连 5671</a:t>
            </a:r>
          </a:p>
          <a:p>
            <a:pPr>
              <a:spcAft>
                <a:spcPts val="800"/>
              </a:spcAft>
              <a:defRPr sz="1300" b="0">
                <a:solidFill>
                  <a:srgbClr val="1F4E79"/>
                </a:solidFill>
                <a:latin typeface="Microsoft YaHei"/>
              </a:defRPr>
            </a:pPr>
            <a:r>
              <a:t>AMP 心跳：Kafka wt.ioa.pub:19092 直连上报（无需鉴权），静默 &gt;90s 判离线，持续心跳维持存活</a:t>
            </a:r>
          </a:p>
          <a:p>
            <a:pPr>
              <a:spcAft>
                <a:spcPts val="800"/>
              </a:spcAft>
              <a:defRPr sz="1300" b="0">
                <a:solidFill>
                  <a:srgbClr val="1F4E79"/>
                </a:solidFill>
                <a:latin typeface="Microsoft YaHei"/>
              </a:defRPr>
            </a:pPr>
            <a:r>
              <a:t>审核通过 → Discovery 可检索：约 10 分钟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离线可复现证据（无需平台/LLM） + 平台侧数据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存活感知路由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4/5 正常派发，1/5 降级兜底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scripts/health_route_demo.py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双通道容错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RPC 失败毫秒级降级 Group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同上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全流程业务联调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图书管理系统方案：需求→架构→聚合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运行日志/截图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梧桐平台注册/发现/访问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 智能体 APPROVED，ADP 可检索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【待填】平台后台截图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应用成效与价值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Microsoft YaHei"/>
              </a:defRPr>
            </a:pPr>
            <a:r>
              <a:t>技术落地 · 标准化推广 · 场景赋能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技术落地：验证 AIP 国标从标准文本到可运行系统的完整工程路径</a:t>
            </a:r>
          </a:p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场景插件化：同一 AIP 底座快速适配不同行业（旅游→软件开发），降低适配成本</a:t>
            </a:r>
          </a:p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场景赋能：软件开发多角色协同范式可迁移至需求工程、代码评审、测试管理、文档治理</a:t>
            </a:r>
          </a:p>
          <a:p>
            <a:pPr>
              <a:spcAft>
                <a:spcPts val="800"/>
              </a:spcAft>
              <a:defRPr sz="1500" b="0">
                <a:solidFill>
                  <a:srgbClr val="D65A2C"/>
                </a:solidFill>
                <a:latin typeface="Microsoft YaHei"/>
              </a:defRPr>
            </a:pPr>
            <a:r>
              <a:t>量化指标：6 智能体接入 · 5 维并行协同 · 任务时延 &lt;30s · 双通道降级毫秒级</a:t>
            </a:r>
          </a:p>
          <a:p>
            <a:pPr>
              <a:spcAft>
                <a:spcPts val="800"/>
              </a:spcAft>
              <a:defRPr sz="1500" b="0">
                <a:solidFill>
                  <a:srgbClr val="D65A2C"/>
                </a:solidFill>
                <a:latin typeface="Microsoft YaHei"/>
              </a:defRPr>
            </a:pPr>
            <a:r>
              <a:t>开源贡献：基于 AIP 开源社区二次开发，改造代码保留 License，计划回馈社区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总结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标准先行、分层解耦、创新独立成模块、平台优先——完整交付「国标+开源+场景」工程范式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不足：LLM 产出质量受模型上限约束；双通道为顺序重试而非并发竞速</a:t>
            </a:r>
          </a:p>
          <a:p>
            <a:pPr>
              <a:spcAft>
                <a:spcPts val="8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展望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多轮需求澄清对话、文件级上下文注入、技能热更新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基于访问频次与历史成功率的智能负载均衡、双通道并发竞速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场景扩展至运维排障、教学辅导、科研协研；回馈 AIP 开源社区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感谢聆听 · 敬请指正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7EE"/>
                </a:solidFill>
                <a:latin typeface="Microsoft YaHei"/>
              </a:defRPr>
            </a:pPr>
            <a:r>
              <a:t>多智能体协同软件开发工作台 · 第八届 AIC 算法大赛（智能体互联）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